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【30秒】今日は3つ。①市場は今『迷う時代』②だから私たちの勝ち筋が効く③この会社で頑張る価値。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【1分30秒】数字は3つだけ。価格は過去最高、金利は31年ぶりの水準、相続は10人に1人。『買う・売る・持つ・譲る』全部が難しくなっている。迷う人が増える＝相談相手の価値が上がる。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【1分30秒】9月の『点・線・面』を市場に当てはめる。逆風は私たちにとって追い風。価格で戦わない。信頼で選ばれる。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【2分】営業の仕事は売ることではなく、迷いを安心に変えること。感謝をいただけた分だけ、紹介と次の相談が来る。各自の今日の1件がここにつながる。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【2分】数字は目的ではなく通過点。会社が大きくなる＝あなたの選べる未来が増える。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【1分30秒】行動は2つだけ。ありがとうの共有と、部署を越えた一声。以上、よろしくお願いします。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A7E3D1"/>
                </a:solidFill>
                <a:latin typeface="Meiryo"/>
              </a:rPr>
              <a:t>全体会議　役員メッセージ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eiryo"/>
              </a:rPr>
              <a:t>迷う時代に、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Meiryo"/>
              </a:rPr>
              <a:t>「あなたに任せたい」と言われる会社へ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Meiryo"/>
              </a:rPr>
              <a:t>2026年10月26日（月）｜ 発表者：武田尚也　｜ 持ち時間 10分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2B4D"/>
                </a:solidFill>
                <a:latin typeface="Meiryo"/>
              </a:rPr>
              <a:t>お客様は今、かつてないほど「判断に迷っている」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Meiryo"/>
              </a:rPr>
              <a:t>外部環境：価格も金利も、同時に動いている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347472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9456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1F8A70"/>
                </a:solidFill>
                <a:latin typeface="Meiryo"/>
              </a:rPr>
              <a:t>1.28億円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383280"/>
            <a:ext cx="3108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Meiryo"/>
              </a:rPr>
              <a:t>東京23区 中古マンション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Meiryo"/>
              </a:rPr>
              <a:t>(70㎡換算・2026年5月)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Meiryo"/>
              </a:rPr>
              <a:t>25カ月連続で単月最高値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011680"/>
            <a:ext cx="347472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1F8A70"/>
                </a:solidFill>
                <a:latin typeface="Meiryo"/>
              </a:rPr>
              <a:t>1.25%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383280"/>
            <a:ext cx="3108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Meiryo"/>
              </a:rPr>
              <a:t>日銀の政策金利目標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Meiryo"/>
              </a:rPr>
              <a:t>(2026年9月決定)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Meiryo"/>
              </a:rPr>
              <a:t>6月に1.0%へ、約31年ぶり水準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2011680"/>
            <a:ext cx="347472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219456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1F8A70"/>
                </a:solidFill>
                <a:latin typeface="Meiryo"/>
              </a:rPr>
              <a:t>10.4%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9" y="3383280"/>
            <a:ext cx="3108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Meiryo"/>
              </a:rPr>
              <a:t>相続税の課税割合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Meiryo"/>
              </a:rPr>
              <a:t>(2024年・過去最高)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Meiryo"/>
              </a:rPr>
              <a:t>故人の10人に1人超が対象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303520"/>
            <a:ext cx="10881360" cy="777240"/>
          </a:xfrm>
          <a:prstGeom prst="rect">
            <a:avLst/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42B4D"/>
                </a:solidFill>
                <a:latin typeface="Meiryo"/>
              </a:rPr>
              <a:t>高額化 × 金利上昇 × 相続の増加 ＝ 「いつ・何を・誰に相談すればいいか」が分からない人が増えている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eiryo"/>
              </a:rPr>
              <a:t>出典：東京カンテイ／日本銀行 金融政策決定会合／国税庁（相続税の課税割合）各公表をもとに作成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3550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eiry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2B4D"/>
                </a:solidFill>
                <a:latin typeface="Meiryo"/>
              </a:rPr>
              <a:t>迷う時代は、「生涯顧問」を持つ会社が選ばれる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Meiryo"/>
              </a:rPr>
              <a:t>私たちの勝ち筋：ウィローズモデル（BtoF × LTV）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303520" cy="7315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安さで選ばれる会社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53035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7548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一回の取引で終わる</a:t>
            </a:r>
          </a:p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価格・条件で比較される</a:t>
            </a:r>
          </a:p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市場が荒れると苦しい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303520" cy="73152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任せられる会社＝ウィローズ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743200"/>
            <a:ext cx="5303520" cy="2377440"/>
          </a:xfrm>
          <a:prstGeom prst="rect">
            <a:avLst/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26080"/>
            <a:ext cx="47548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B4D"/>
                </a:solidFill>
                <a:latin typeface="Meiryo"/>
              </a:rPr>
              <a:t>売買・相続・リフォーム・管理を</a:t>
            </a:r>
          </a:p>
          <a:p>
            <a:pPr algn="l"/>
            <a:r>
              <a:rPr sz="2000" b="1">
                <a:solidFill>
                  <a:srgbClr val="142B4D"/>
                </a:solidFill>
                <a:latin typeface="Meiryo"/>
              </a:rPr>
              <a:t>一人の人生で一気通貫</a:t>
            </a:r>
          </a:p>
          <a:p>
            <a:pPr algn="l"/>
            <a:r>
              <a:rPr sz="2000" b="1">
                <a:solidFill>
                  <a:srgbClr val="142B4D"/>
                </a:solidFill>
                <a:latin typeface="Meiryo"/>
              </a:rPr>
              <a:t>迷ったら最初に思い出される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B4D"/>
                </a:solidFill>
                <a:latin typeface="Meiryo"/>
              </a:rPr>
              <a:t>点で出会い、線で寄り添い、面で支える。市場が難しくなるほど、私たちの価値は増す。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550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eiry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2B4D"/>
                </a:solidFill>
                <a:latin typeface="Meiryo"/>
              </a:rPr>
              <a:t>お客様の「迷い」を「安心」に変えることが、私たちの仕事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Meiryo"/>
              </a:rPr>
              <a:t>お客様にとっての価値と、返ってくる感謝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560320" cy="6400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560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迷い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51760"/>
            <a:ext cx="256032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788920"/>
            <a:ext cx="2377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Meiryo"/>
              </a:rPr>
              <a:t>「今、売って大丈夫？」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Meiryo"/>
              </a:rPr>
              <a:t>「この金利で買える？」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Meiryo"/>
              </a:rPr>
              <a:t>「実家をどうする？」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1" y="205740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Meiryo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011680"/>
            <a:ext cx="2560320" cy="64008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011680"/>
            <a:ext cx="2560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私たちの仕事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651760"/>
            <a:ext cx="256032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788920"/>
            <a:ext cx="2377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Meiryo"/>
              </a:rPr>
              <a:t>部署の壁を越えて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Meiryo"/>
              </a:rPr>
              <a:t>最適解を一緒に考える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Meiryo"/>
              </a:rPr>
              <a:t>売らない提案も、誠実に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1" y="205740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Meiryo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011680"/>
            <a:ext cx="2560320" cy="64008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011680"/>
            <a:ext cx="2560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お客様の安心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651760"/>
            <a:ext cx="256032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2788920"/>
            <a:ext cx="2377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Meiryo"/>
              </a:rPr>
              <a:t>「あなたに相談して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Meiryo"/>
              </a:rPr>
              <a:t>良かった」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205740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Meiryo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39" y="2011680"/>
            <a:ext cx="2560320" cy="6400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39" y="2011680"/>
            <a:ext cx="2560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感謝・紹介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39" y="2651760"/>
            <a:ext cx="256032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79" y="2788920"/>
            <a:ext cx="2377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Meiryo"/>
              </a:rPr>
              <a:t>次の相談・ご紹介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Meiryo"/>
              </a:rPr>
              <a:t>生涯のお付き合い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66360"/>
            <a:ext cx="10881360" cy="914400"/>
          </a:xfrm>
          <a:prstGeom prst="rect">
            <a:avLst/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42B4D"/>
                </a:solidFill>
                <a:latin typeface="Meiryo"/>
              </a:rPr>
              <a:t>いただく感謝が、会社の最大の資産。目標数字は、感謝の数の「結果」です。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3550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eiry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2B4D"/>
                </a:solidFill>
                <a:latin typeface="Meiryo"/>
              </a:rPr>
              <a:t>感謝の積み重ねが、2030年の会社と、あなたの舞台をつくる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Meiryo"/>
              </a:rPr>
              <a:t>この会社で頑張る価値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0116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2011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F8A70"/>
                </a:solidFill>
                <a:latin typeface="Meiryo"/>
              </a:rPr>
              <a:t>100億円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Meiryo"/>
              </a:rPr>
              <a:t>売上高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2011680"/>
            <a:ext cx="20116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2928" y="2240280"/>
            <a:ext cx="2011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F8A70"/>
                </a:solidFill>
                <a:latin typeface="Meiryo"/>
              </a:rPr>
              <a:t>7.5億円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31089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Meiryo"/>
              </a:rPr>
              <a:t>経常利益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65776" y="2011680"/>
            <a:ext cx="20116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65776" y="2240280"/>
            <a:ext cx="2011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F8A70"/>
                </a:solidFill>
                <a:latin typeface="Meiryo"/>
              </a:rPr>
              <a:t>上場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5776" y="31089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Meiryo"/>
              </a:rPr>
              <a:t>株式上場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78624" y="2011680"/>
            <a:ext cx="20116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78624" y="2240280"/>
            <a:ext cx="2011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F8A70"/>
                </a:solidFill>
                <a:latin typeface="Meiryo"/>
              </a:rPr>
              <a:t>5店舗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8624" y="31089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Meiryo"/>
              </a:rPr>
              <a:t>店舗展開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91472" y="2011680"/>
            <a:ext cx="20116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91472" y="2240280"/>
            <a:ext cx="2011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F8A70"/>
                </a:solidFill>
                <a:latin typeface="Meiryo"/>
              </a:rPr>
              <a:t>135名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31089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Meiryo"/>
              </a:rPr>
              <a:t>仲間の数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 会社が伸びるほど、任される仕事と挑戦の舞台が大きくなる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 店長・事業責任者・専門家。頑張り方はグレード制度で選べる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035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 お客様に感謝される経験が、あなた自身の市場価値になる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3550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eiry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A7E3D1"/>
                </a:solidFill>
                <a:latin typeface="Meiryo"/>
              </a:rPr>
              <a:t>今月、みんなにお願いしたいこと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eiryo"/>
              </a:rPr>
              <a:t>お客様の「迷い」に、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Meiryo"/>
              </a:rPr>
              <a:t>最初に気づく人になろう。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2E8F0"/>
                </a:solidFill>
                <a:latin typeface="Meiryo"/>
              </a:rPr>
              <a:t>① 今月、お客様の「ありがとう」を1つ共有する</a:t>
            </a:r>
          </a:p>
          <a:p>
            <a:pPr algn="l"/>
            <a:r>
              <a:rPr sz="2000" b="0">
                <a:solidFill>
                  <a:srgbClr val="E2E8F0"/>
                </a:solidFill>
                <a:latin typeface="Meiryo"/>
              </a:rPr>
              <a:t>② 自部署だけで抱えず、他部署に一声かける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Meiryo"/>
              </a:rPr>
              <a:t>武田尚也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